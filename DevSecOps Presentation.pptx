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903617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CE7A08-2184-4B99-ABC0-B40CD1D3F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903616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072" y="213627"/>
            <a:ext cx="4854778" cy="32153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bg1"/>
                </a:solidFill>
              </a:rPr>
              <a:t>DevSecOps</a:t>
            </a:r>
            <a:r>
              <a:rPr lang="en-US" dirty="0">
                <a:solidFill>
                  <a:schemeClr val="bg1"/>
                </a:solidFill>
              </a:rPr>
              <a:t>: Integrating Security into DevOps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5490" y="4275786"/>
            <a:ext cx="2018510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552FC29-9118-466F-940E-80C84EFD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5490" y="4275786"/>
            <a:ext cx="2018510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897" y="5025384"/>
            <a:ext cx="3912879" cy="961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Guven Emin Samil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877492"/>
            <a:ext cx="3022599" cy="32153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4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What is </a:t>
            </a:r>
            <a:r>
              <a:rPr lang="en-US" sz="2200" dirty="0" err="1">
                <a:solidFill>
                  <a:schemeClr val="bg1"/>
                </a:solidFill>
              </a:rPr>
              <a:t>DevSecOps</a:t>
            </a:r>
            <a:r>
              <a:rPr lang="en-US" sz="2200" dirty="0">
                <a:solidFill>
                  <a:schemeClr val="bg1"/>
                </a:solidFill>
              </a:rPr>
              <a:t>?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Why </a:t>
            </a:r>
            <a:r>
              <a:rPr lang="en-US" sz="2200" dirty="0" err="1">
                <a:solidFill>
                  <a:schemeClr val="bg1"/>
                </a:solidFill>
              </a:rPr>
              <a:t>DevSecOps</a:t>
            </a:r>
            <a:r>
              <a:rPr lang="en-US" sz="2200" dirty="0">
                <a:solidFill>
                  <a:schemeClr val="bg1"/>
                </a:solidFill>
              </a:rPr>
              <a:t> is needed</a:t>
            </a: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chemeClr val="bg1"/>
                </a:solidFill>
              </a:rPr>
              <a:t>DevSecOps</a:t>
            </a:r>
            <a:r>
              <a:rPr lang="en-US" sz="2200" dirty="0">
                <a:solidFill>
                  <a:schemeClr val="bg1"/>
                </a:solidFill>
              </a:rPr>
              <a:t> vs DevOps vs Traditional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Core principles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Key practices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Benefits &amp; challenges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Implementation roadmap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Case</a:t>
            </a:r>
            <a:r>
              <a:rPr lang="en-US" sz="2200">
                <a:solidFill>
                  <a:schemeClr val="bg1"/>
                </a:solidFill>
              </a:rPr>
              <a:t>/example</a:t>
            </a:r>
            <a:endParaRPr lang="en-US" sz="2200" dirty="0">
              <a:solidFill>
                <a:schemeClr val="bg1"/>
              </a:solidFill>
            </a:endParaRPr>
          </a:p>
        </p:txBody>
      </p:sp>
      <p:grpSp>
        <p:nvGrpSpPr>
          <p:cNvPr id="52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What is DevSecOps?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 err="1">
                <a:solidFill>
                  <a:schemeClr val="bg1"/>
                </a:solidFill>
              </a:rPr>
              <a:t>DevSecOps</a:t>
            </a:r>
            <a:r>
              <a:rPr lang="en-US" sz="2500" dirty="0">
                <a:solidFill>
                  <a:schemeClr val="bg1"/>
                </a:solidFill>
              </a:rPr>
              <a:t> = Development + Security + Operations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Integrates security throughout the SDLC, not at the end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Shared responsibility for security across teams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Culture shift, not just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Why is DevSecOps Needed?</a:t>
            </a:r>
          </a:p>
        </p:txBody>
      </p:sp>
      <p:grpSp>
        <p:nvGrpSpPr>
          <p:cNvPr id="36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4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5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66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Traditional security = bottleneck at end of development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Fast CI/CD cycles need continuous security feedback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More complexity: microservices, open-source, cloud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Cost of fixing vulnerabilities increases over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ctangle 36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fr-FR" sz="4100">
                <a:solidFill>
                  <a:schemeClr val="bg1"/>
                </a:solidFill>
              </a:rPr>
              <a:t>DevSecOps vs DevOps vs Traditional</a:t>
            </a:r>
          </a:p>
        </p:txBody>
      </p:sp>
      <p:grpSp>
        <p:nvGrpSpPr>
          <p:cNvPr id="363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5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76" name="Oval 375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Traditional: security added after deployment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DevOps: automation &amp; collaboration between Dev and Ops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DevSecOps</a:t>
            </a:r>
            <a:r>
              <a:rPr lang="en-US" sz="2700" dirty="0">
                <a:solidFill>
                  <a:schemeClr val="bg1"/>
                </a:solidFill>
              </a:rPr>
              <a:t>: embeds security into DevOps pipeline from the 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Core Principles &amp; Culture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Shift-left security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Shared responsibility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Automation &amp; continuous feedback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Collaboration between Dev, Sec, Ops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Culture of trust and transparency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Key Practices &amp; Technologies</a:t>
            </a:r>
          </a:p>
        </p:txBody>
      </p:sp>
      <p:grpSp>
        <p:nvGrpSpPr>
          <p:cNvPr id="32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Threat modeling &amp; secure design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Automated testing (SAST, DAST, SCA)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Infrastructure as Code (</a:t>
            </a:r>
            <a:r>
              <a:rPr lang="en-US" sz="2500" dirty="0" err="1">
                <a:solidFill>
                  <a:schemeClr val="bg1"/>
                </a:solidFill>
              </a:rPr>
              <a:t>IaC</a:t>
            </a:r>
            <a:r>
              <a:rPr lang="en-US" sz="2500" dirty="0">
                <a:solidFill>
                  <a:schemeClr val="bg1"/>
                </a:solidFill>
              </a:rPr>
              <a:t>) security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Container and cloud security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Continuous monitoring &amp; incident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Benefits of DevSecOps</a:t>
            </a:r>
          </a:p>
        </p:txBody>
      </p:sp>
      <p:grpSp>
        <p:nvGrpSpPr>
          <p:cNvPr id="32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Early vulnerability detection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Faster delivery with higher security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Improved collaboration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Reduced risk and downtime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Better compliance and audit readiness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877492"/>
            <a:ext cx="3022599" cy="321537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Challenges &amp; Risks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1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 Cultural resistance &amp; skill gaps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 Toolchain integration complexity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 Balancing speed and security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 Keeping up with new threats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Implementation Roadmap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Start small: one project or pipeline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Define security champions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Automate and integrate tools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Measure metrics (vulnerabilities, response time)</a:t>
            </a: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chemeClr val="bg1"/>
                </a:solidFill>
              </a:rPr>
              <a:t> Continuous improvement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Example / Case Study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A company adopts </a:t>
            </a:r>
            <a:r>
              <a:rPr lang="en-US" sz="2700" dirty="0" err="1">
                <a:solidFill>
                  <a:schemeClr val="bg1"/>
                </a:solidFill>
              </a:rPr>
              <a:t>DevSecOps</a:t>
            </a:r>
            <a:r>
              <a:rPr lang="en-US" sz="2700" dirty="0">
                <a:solidFill>
                  <a:schemeClr val="bg1"/>
                </a:solidFill>
              </a:rPr>
              <a:t> in CI/CD pipeline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Integrates SAST, SCA, image scanning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Monitors runtime security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Results: fewer incidents, faster recovery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877492"/>
            <a:ext cx="3022599" cy="321537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Summary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DevSecOps</a:t>
            </a:r>
            <a:r>
              <a:rPr lang="en-US" sz="2700" dirty="0">
                <a:solidFill>
                  <a:schemeClr val="bg1"/>
                </a:solidFill>
              </a:rPr>
              <a:t> = Security built-in from day one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Combines culture, automation, and shared responsibility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 Benefits outweigh challenges when implemented correctly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References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 Red Hat – What is </a:t>
            </a:r>
            <a:r>
              <a:rPr lang="en-US" sz="3000" dirty="0" err="1">
                <a:solidFill>
                  <a:schemeClr val="bg1"/>
                </a:solidFill>
              </a:rPr>
              <a:t>DevSecOps</a:t>
            </a:r>
            <a:r>
              <a:rPr lang="en-US" sz="3000" dirty="0">
                <a:solidFill>
                  <a:schemeClr val="bg1"/>
                </a:solidFill>
              </a:rPr>
              <a:t>?</a:t>
            </a:r>
          </a:p>
          <a:p>
            <a:r>
              <a:rPr lang="en-US" sz="3000" dirty="0">
                <a:solidFill>
                  <a:schemeClr val="bg1"/>
                </a:solidFill>
              </a:rPr>
              <a:t> IBM – </a:t>
            </a:r>
            <a:r>
              <a:rPr lang="en-US" sz="3000" dirty="0" err="1">
                <a:solidFill>
                  <a:schemeClr val="bg1"/>
                </a:solidFill>
              </a:rPr>
              <a:t>DevSecOps</a:t>
            </a:r>
            <a:r>
              <a:rPr lang="en-US" sz="3000" dirty="0">
                <a:solidFill>
                  <a:schemeClr val="bg1"/>
                </a:solidFill>
              </a:rPr>
              <a:t> Overview</a:t>
            </a:r>
          </a:p>
          <a:p>
            <a:r>
              <a:rPr lang="en-US" sz="3000" dirty="0">
                <a:solidFill>
                  <a:schemeClr val="bg1"/>
                </a:solidFill>
              </a:rPr>
              <a:t> GitLab – </a:t>
            </a:r>
            <a:r>
              <a:rPr lang="en-US" sz="3000" dirty="0" err="1">
                <a:solidFill>
                  <a:schemeClr val="bg1"/>
                </a:solidFill>
              </a:rPr>
              <a:t>DevSecOps</a:t>
            </a:r>
            <a:r>
              <a:rPr lang="en-US" sz="3000" dirty="0">
                <a:solidFill>
                  <a:schemeClr val="bg1"/>
                </a:solidFill>
              </a:rPr>
              <a:t> Practices</a:t>
            </a:r>
          </a:p>
          <a:p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Checkmarx</a:t>
            </a:r>
            <a:r>
              <a:rPr lang="en-US" sz="3000" dirty="0">
                <a:solidFill>
                  <a:schemeClr val="bg1"/>
                </a:solidFill>
              </a:rPr>
              <a:t> – Glossary: </a:t>
            </a:r>
            <a:r>
              <a:rPr lang="en-US" sz="3000" dirty="0" err="1">
                <a:solidFill>
                  <a:schemeClr val="bg1"/>
                </a:solidFill>
              </a:rPr>
              <a:t>DevSecOps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372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DevSecOps: Integrating Security into DevOps</vt:lpstr>
      <vt:lpstr>Agenda</vt:lpstr>
      <vt:lpstr>What is DevSecOps?</vt:lpstr>
      <vt:lpstr>Why is DevSecOps Needed?</vt:lpstr>
      <vt:lpstr>DevSecOps vs DevOps vs Traditional</vt:lpstr>
      <vt:lpstr>Core Principles &amp; Culture</vt:lpstr>
      <vt:lpstr>Key Practices &amp; Technologies</vt:lpstr>
      <vt:lpstr>Benefits of DevSecOps</vt:lpstr>
      <vt:lpstr>Challenges &amp; Risks</vt:lpstr>
      <vt:lpstr>Implementation Roadmap</vt:lpstr>
      <vt:lpstr>Example / Case Study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Emin Şamil Güven</cp:lastModifiedBy>
  <cp:revision>3</cp:revision>
  <dcterms:created xsi:type="dcterms:W3CDTF">2013-01-27T09:14:16Z</dcterms:created>
  <dcterms:modified xsi:type="dcterms:W3CDTF">2025-10-31T12:55:02Z</dcterms:modified>
  <cp:category/>
</cp:coreProperties>
</file>